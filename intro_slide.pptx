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5" r:id="rId1"/>
  </p:sldMasterIdLst>
  <p:notesMasterIdLst>
    <p:notesMasterId r:id="rId13"/>
  </p:notesMasterIdLst>
  <p:sldIdLst>
    <p:sldId id="256" r:id="rId2"/>
    <p:sldId id="266" r:id="rId3"/>
    <p:sldId id="270" r:id="rId4"/>
    <p:sldId id="257" r:id="rId5"/>
    <p:sldId id="260" r:id="rId6"/>
    <p:sldId id="267" r:id="rId7"/>
    <p:sldId id="271" r:id="rId8"/>
    <p:sldId id="258" r:id="rId9"/>
    <p:sldId id="268" r:id="rId10"/>
    <p:sldId id="264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14BF91-2592-95B6-899F-D87B7808E238}" v="67" dt="2026-02-17T20:42:10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92B1F-76F2-0648-B996-849B1CABA820}" type="datetimeFigureOut">
              <a:rPr kumimoji="1" lang="zh-CN" altLang="en-US" smtClean="0"/>
              <a:t>2026/2/17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F6C63E-DAD1-9349-8D48-05D0F52E4F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00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F6C63E-DAD1-9349-8D48-05D0F52E4F9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6726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4E17-EA8E-7A45-D2E7-8D46FBA5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5530D4-13C6-C7CA-2E68-199597FC5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52F418-EBAE-5F16-A872-0F1633C3D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C351E9-5DFD-152A-8488-1471E6C27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F6C63E-DAD1-9349-8D48-05D0F52E4F9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3938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1E03B-5E57-0DDD-5288-732A599F6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752F03-3520-13AB-C690-192C845C7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62FCC2-8C1D-66DC-EC9B-049586CAA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4A02A4-5421-CB7D-F1BA-00BBF0247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F6C63E-DAD1-9349-8D48-05D0F52E4F9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6816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F6C63E-DAD1-9349-8D48-05D0F52E4F9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5223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0A07-75F8-35A1-3BD4-A1259E282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F9CE50-1C94-E021-1AB4-8E5BF6572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FAEBE1-9CCA-5AA8-D737-468BEB5E4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F04B07-487F-5B94-F1DB-E41708636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F6C63E-DAD1-9349-8D48-05D0F52E4F9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564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A2962-0AB6-E444-11DE-9B5CE3765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C2A8C6-29D1-7220-1EA3-567964390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D37A10-FC3E-13D4-C4CC-1D084898A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等线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84368F-3C37-8F0B-8B42-AE2E33A15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F6C63E-DAD1-9349-8D48-05D0F52E4F9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2518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等线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F6C63E-DAD1-9349-8D48-05D0F52E4F9B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4618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442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946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904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360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2/17/26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2/17/26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3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2/17/26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11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797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23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629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93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31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make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5D1A8ED-3758-3E7B-64C1-B0A83C1628B1}"/>
              </a:ext>
            </a:extLst>
          </p:cNvPr>
          <p:cNvSpPr/>
          <p:nvPr/>
        </p:nvSpPr>
        <p:spPr>
          <a:xfrm>
            <a:off x="4365453" y="637792"/>
            <a:ext cx="3233321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altLang="zh-CN" sz="5400" b="1" cap="none" spc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Welcome!</a:t>
            </a:r>
            <a:endParaRPr lang="zh-CN" altLang="en-US" sz="5400" b="1" cap="none" spc="0">
              <a:ln w="6600">
                <a:solidFill>
                  <a:schemeClr val="accent2"/>
                </a:solidFill>
                <a:prstDash val="solid"/>
              </a:ln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96EF481-78BB-6CB1-760F-36F0B022543C}"/>
              </a:ext>
            </a:extLst>
          </p:cNvPr>
          <p:cNvSpPr txBox="1"/>
          <p:nvPr/>
        </p:nvSpPr>
        <p:spPr>
          <a:xfrm>
            <a:off x="1345096" y="1789811"/>
            <a:ext cx="9936086" cy="31700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2000" dirty="0">
                <a:latin typeface="Arial"/>
                <a:ea typeface="DengXian"/>
                <a:cs typeface="Arial"/>
              </a:rPr>
              <a:t>Intro myself</a:t>
            </a:r>
            <a:endParaRPr lang="zh-CN" altLang="zh-CN" sz="2000" dirty="0">
              <a:effectLst/>
              <a:latin typeface="Arial"/>
              <a:ea typeface="宋体"/>
              <a:cs typeface="Arial"/>
            </a:endParaRPr>
          </a:p>
          <a:p>
            <a:endParaRPr lang="zh-CN" altLang="zh-CN" sz="2000" dirty="0">
              <a:latin typeface="Arial"/>
              <a:ea typeface="宋体" panose="02010600030101010101" pitchFamily="2" charset="-122"/>
              <a:cs typeface="Arial" panose="020B0604020202020204"/>
            </a:endParaRPr>
          </a:p>
          <a:p>
            <a:r>
              <a:rPr lang="en-US" altLang="zh-CN" sz="2000" dirty="0">
                <a:latin typeface="Arial"/>
                <a:ea typeface="宋体"/>
                <a:cs typeface="Arial"/>
              </a:rPr>
              <a:t>This</a:t>
            </a:r>
            <a:r>
              <a:rPr lang="zh-CN" altLang="zh-CN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study</a:t>
            </a:r>
            <a:r>
              <a:rPr lang="zh-CN" altLang="zh-CN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aims</a:t>
            </a:r>
            <a:r>
              <a:rPr lang="zh-CN" altLang="zh-CN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to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 </a:t>
            </a:r>
            <a:r>
              <a:rPr lang="en-US" altLang="en-US" sz="2000" dirty="0">
                <a:latin typeface="Arial"/>
                <a:ea typeface="宋体"/>
                <a:cs typeface="Arial"/>
              </a:rPr>
              <a:t>understand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en-US" sz="2000" dirty="0">
                <a:latin typeface="Arial"/>
                <a:ea typeface="宋体"/>
                <a:cs typeface="Arial"/>
              </a:rPr>
              <a:t>how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en-US" sz="2000" dirty="0">
                <a:latin typeface="Arial"/>
                <a:ea typeface="宋体"/>
                <a:cs typeface="Arial"/>
              </a:rPr>
              <a:t>designers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en-US" sz="2000" dirty="0">
                <a:latin typeface="Arial"/>
                <a:ea typeface="宋体"/>
                <a:cs typeface="Arial"/>
              </a:rPr>
              <a:t>use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en-US" sz="2000" dirty="0">
                <a:latin typeface="Arial"/>
                <a:ea typeface="宋体"/>
                <a:cs typeface="Arial"/>
              </a:rPr>
              <a:t>AI-powered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en-US" sz="2000" dirty="0">
                <a:latin typeface="Arial"/>
                <a:ea typeface="宋体"/>
                <a:cs typeface="Arial"/>
              </a:rPr>
              <a:t>UI design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en-US" sz="2000" dirty="0">
                <a:latin typeface="Arial"/>
                <a:ea typeface="宋体"/>
                <a:cs typeface="Arial"/>
              </a:rPr>
              <a:t>tools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en-US" sz="2000" dirty="0">
                <a:latin typeface="Arial"/>
                <a:ea typeface="宋体"/>
                <a:cs typeface="Arial"/>
              </a:rPr>
              <a:t>(e.g.,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en-US" sz="2000" dirty="0">
                <a:latin typeface="Arial"/>
                <a:ea typeface="宋体"/>
                <a:cs typeface="Arial"/>
              </a:rPr>
              <a:t>Figma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en-US" sz="2000" dirty="0">
                <a:latin typeface="Arial"/>
                <a:ea typeface="宋体"/>
                <a:cs typeface="Arial"/>
              </a:rPr>
              <a:t>Make)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en-US" sz="2000" dirty="0">
                <a:latin typeface="Arial"/>
                <a:ea typeface="宋体"/>
                <a:cs typeface="Arial"/>
              </a:rPr>
              <a:t>to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en-US" sz="2000" dirty="0">
                <a:latin typeface="Arial"/>
                <a:ea typeface="宋体"/>
                <a:cs typeface="Arial"/>
              </a:rPr>
              <a:t>create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user </a:t>
            </a:r>
            <a:r>
              <a:rPr lang="en-US" altLang="en-US" sz="2000" dirty="0">
                <a:latin typeface="Arial"/>
                <a:ea typeface="宋体"/>
                <a:cs typeface="Arial"/>
              </a:rPr>
              <a:t>interfaces.</a:t>
            </a:r>
            <a:endParaRPr lang="en-US" altLang="zh-CN" sz="2000" dirty="0">
              <a:latin typeface="Arial"/>
              <a:ea typeface="宋体"/>
              <a:cs typeface="Arial"/>
            </a:endParaRPr>
          </a:p>
          <a:p>
            <a:endParaRPr lang="zh-CN" altLang="en-US" sz="2000" dirty="0">
              <a:latin typeface="Arial"/>
              <a:ea typeface="宋体"/>
              <a:cs typeface="Arial"/>
            </a:endParaRPr>
          </a:p>
          <a:p>
            <a:r>
              <a:rPr lang="en-US" altLang="zh-CN" sz="2000" dirty="0">
                <a:latin typeface="Arial"/>
                <a:ea typeface="宋体"/>
                <a:cs typeface="Arial"/>
              </a:rPr>
              <a:t>What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we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’</a:t>
            </a:r>
            <a:r>
              <a:rPr lang="en-US" altLang="zh-CN" sz="2000" dirty="0" err="1">
                <a:latin typeface="Arial"/>
                <a:ea typeface="宋体"/>
                <a:cs typeface="Arial"/>
              </a:rPr>
              <a:t>ll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do:</a:t>
            </a:r>
            <a:endParaRPr lang="zh-CN" altLang="en-US" sz="2000" dirty="0">
              <a:latin typeface="Arial"/>
              <a:ea typeface="宋体"/>
              <a:cs typeface="Arial"/>
            </a:endParaRP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Arial"/>
                <a:ea typeface="宋体"/>
                <a:cs typeface="Arial"/>
              </a:rPr>
              <a:t>Ask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brief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questions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about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your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UI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design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background.</a:t>
            </a:r>
            <a:endParaRPr lang="zh-CN" altLang="en-US" sz="2000" dirty="0">
              <a:latin typeface="Arial"/>
              <a:ea typeface="宋体"/>
              <a:cs typeface="Arial"/>
            </a:endParaRP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Arial"/>
                <a:ea typeface="宋体"/>
                <a:cs typeface="Arial"/>
              </a:rPr>
              <a:t>Give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you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three design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tasks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to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complete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in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Figma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Make.</a:t>
            </a:r>
            <a:endParaRPr lang="zh-CN" altLang="en-US" sz="2000" dirty="0">
              <a:latin typeface="Arial"/>
              <a:ea typeface="宋体"/>
              <a:cs typeface="Arial"/>
            </a:endParaRPr>
          </a:p>
          <a:p>
            <a:pPr marL="457200" indent="-457200">
              <a:buAutoNum type="arabicPeriod"/>
            </a:pPr>
            <a:r>
              <a:rPr lang="en-US" altLang="zh-CN" sz="2000" dirty="0">
                <a:latin typeface="Arial"/>
                <a:ea typeface="宋体"/>
                <a:cs typeface="Arial"/>
              </a:rPr>
              <a:t>Ask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follow-up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questions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about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your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use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of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Figma</a:t>
            </a:r>
            <a:r>
              <a:rPr lang="zh-CN" altLang="en-US" sz="20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Make.</a:t>
            </a:r>
          </a:p>
          <a:p>
            <a:pPr marL="457200" indent="-457200">
              <a:buAutoNum type="arabicPeriod"/>
            </a:pPr>
            <a:r>
              <a:rPr lang="en-US" sz="2000" dirty="0">
                <a:ea typeface="+mn-lt"/>
                <a:cs typeface="+mn-lt"/>
              </a:rPr>
              <a:t>Complete the follow-up tasks after the interview.</a:t>
            </a:r>
          </a:p>
        </p:txBody>
      </p:sp>
    </p:spTree>
    <p:extLst>
      <p:ext uri="{BB962C8B-B14F-4D97-AF65-F5344CB8AC3E}">
        <p14:creationId xmlns:p14="http://schemas.microsoft.com/office/powerpoint/2010/main" val="4291585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9052A-364C-3E06-3E7D-0D4E54F1E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37BBDE5B-AB5E-7DD7-D718-497FD4B77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81963"/>
            <a:ext cx="9144000" cy="2335979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09999"/>
              </a:lnSpc>
              <a:buAutoNum type="arabicPeriod"/>
            </a:pPr>
            <a:r>
              <a:rPr kumimoji="1" lang="en-US" altLang="zh-CN" sz="2000" dirty="0">
                <a:latin typeface="Arial"/>
                <a:ea typeface="宋体"/>
                <a:cs typeface="+mn-lt"/>
              </a:rPr>
              <a:t>We will protect your privacy.</a:t>
            </a:r>
            <a:endParaRPr lang="en-US" dirty="0">
              <a:latin typeface="Arial"/>
              <a:cs typeface="Arial"/>
            </a:endParaRPr>
          </a:p>
          <a:p>
            <a:pPr marL="457200" indent="-457200" algn="just">
              <a:lnSpc>
                <a:spcPct val="109999"/>
              </a:lnSpc>
              <a:buAutoNum type="arabicPeriod"/>
            </a:pPr>
            <a:r>
              <a:rPr kumimoji="1" lang="en-US" sz="2000" dirty="0">
                <a:latin typeface="Arial"/>
                <a:ea typeface="+mn-lt"/>
                <a:cs typeface="+mn-lt"/>
              </a:rPr>
              <a:t>We will record this session.</a:t>
            </a:r>
            <a:endParaRPr lang="en-US" dirty="0">
              <a:latin typeface="Arial"/>
              <a:cs typeface="Arial"/>
            </a:endParaRPr>
          </a:p>
          <a:p>
            <a:pPr marL="457200" indent="-457200" algn="just">
              <a:lnSpc>
                <a:spcPct val="109999"/>
              </a:lnSpc>
              <a:buAutoNum type="arabicPeriod"/>
            </a:pPr>
            <a:r>
              <a:rPr kumimoji="1" lang="en-US" sz="2000" dirty="0">
                <a:latin typeface="Arial"/>
                <a:ea typeface="+mn-lt"/>
                <a:cs typeface="+mn-lt"/>
              </a:rPr>
              <a:t>We will not evaluate your design - only how AI-powered UI tools support UI development.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457200" indent="-457200" algn="just">
              <a:lnSpc>
                <a:spcPct val="109999"/>
              </a:lnSpc>
              <a:buAutoNum type="arabicPeriod"/>
            </a:pPr>
            <a:r>
              <a:rPr kumimoji="1" lang="en-US" sz="2000" dirty="0">
                <a:latin typeface="Arial"/>
                <a:ea typeface="+mn-lt"/>
                <a:cs typeface="+mn-lt"/>
              </a:rPr>
              <a:t>Feel free to ask questions at any time.</a:t>
            </a:r>
            <a:endParaRPr lang="en-US" dirty="0">
              <a:latin typeface="Calisto MT" panose="02040603050505030304"/>
              <a:cs typeface="Arial" panose="020B0604020202020204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582662-225D-7385-C06D-E1DF2314CD31}"/>
              </a:ext>
            </a:extLst>
          </p:cNvPr>
          <p:cNvSpPr/>
          <p:nvPr/>
        </p:nvSpPr>
        <p:spPr>
          <a:xfrm>
            <a:off x="4365453" y="637792"/>
            <a:ext cx="3233321" cy="9233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altLang="zh-CN" sz="5400" b="1" cap="none" spc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Welcome!</a:t>
            </a:r>
            <a:endParaRPr lang="zh-CN" altLang="en-US" sz="5400" b="1" cap="none" spc="0">
              <a:ln w="6600">
                <a:solidFill>
                  <a:srgbClr val="959EBB"/>
                </a:solidFill>
                <a:prstDash val="solid"/>
              </a:ln>
              <a:effectLst>
                <a:outerShdw dist="38100" dir="2700000" algn="tl" rotWithShape="0">
                  <a:srgbClr val="959EBB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2572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8A8FF-C16D-F6B4-314E-15D13874E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68F1D-29D3-72D1-39B1-F8C41D66A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/>
              </a:rPr>
              <a:t>UI Design Background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547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A0080-E80D-233E-EC26-F9415C166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 altLang="zh-CN">
                <a:ea typeface="宋体"/>
              </a:rPr>
              <a:t>Design Tasks </a:t>
            </a:r>
            <a:endParaRPr lang="zh-CN" altLang="en-US">
              <a:ea typeface="宋体"/>
              <a:cs typeface="Arial" panose="020B0604020202020204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43D731-6066-28B0-383B-CB5D6F7C9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361351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en-US">
                <a:latin typeface="Arial"/>
                <a:ea typeface="+mn-lt"/>
                <a:cs typeface="+mn-lt"/>
              </a:rPr>
              <a:t>Please imagine you are asked to design several UIs, and complete the following three UI design tasks in Figma Make.</a:t>
            </a:r>
            <a:endParaRPr lang="en-US">
              <a:latin typeface="Arial"/>
              <a:cs typeface="Arial"/>
            </a:endParaRPr>
          </a:p>
          <a:p>
            <a:pPr marL="0" indent="0" algn="just">
              <a:buNone/>
            </a:pPr>
            <a:r>
              <a:rPr lang="en-US">
                <a:latin typeface="Arial"/>
                <a:ea typeface="DengXian"/>
                <a:cs typeface="+mn-lt"/>
              </a:rPr>
              <a:t>While you design, you may consider:</a:t>
            </a:r>
            <a:endParaRPr lang="en-US">
              <a:latin typeface="Arial"/>
              <a:cs typeface="Arial"/>
            </a:endParaRPr>
          </a:p>
          <a:p>
            <a:pPr marL="342900" indent="-342900" algn="just"/>
            <a:r>
              <a:rPr lang="en-US">
                <a:latin typeface="Arial"/>
                <a:ea typeface="DengXian"/>
                <a:cs typeface="+mn-lt"/>
              </a:rPr>
              <a:t>What prompts would you use?</a:t>
            </a:r>
            <a:endParaRPr lang="en-US">
              <a:latin typeface="Arial"/>
              <a:cs typeface="Arial" panose="020B0604020202020204"/>
            </a:endParaRPr>
          </a:p>
          <a:p>
            <a:pPr marL="342900" indent="-342900" algn="just"/>
            <a:r>
              <a:rPr lang="en-US">
                <a:latin typeface="Arial"/>
                <a:ea typeface="DengXian"/>
                <a:cs typeface="+mn-lt"/>
              </a:rPr>
              <a:t>How would you customize the prompts?</a:t>
            </a:r>
          </a:p>
          <a:p>
            <a:pPr marL="342900" indent="-342900" algn="just"/>
            <a:r>
              <a:rPr lang="en-US">
                <a:latin typeface="Arial"/>
                <a:ea typeface="DengXian"/>
                <a:cs typeface="+mn-lt"/>
              </a:rPr>
              <a:t>What content should be mentioned in the prompts?</a:t>
            </a:r>
            <a:endParaRPr lang="en-US">
              <a:latin typeface="Arial"/>
              <a:ea typeface="DengXian"/>
              <a:cs typeface="Arial"/>
            </a:endParaRPr>
          </a:p>
          <a:p>
            <a:pPr marL="0" indent="0" algn="just">
              <a:buNone/>
            </a:pPr>
            <a:r>
              <a:rPr lang="en-US">
                <a:latin typeface="Arial"/>
                <a:ea typeface="DengXian"/>
                <a:cs typeface="+mn-lt"/>
              </a:rPr>
              <a:t>Reminder: There’s no right or wrong, no need to be perfect.</a:t>
            </a:r>
            <a:endParaRPr lang="en-US">
              <a:latin typeface="Arial"/>
              <a:cs typeface="Arial"/>
            </a:endParaRPr>
          </a:p>
          <a:p>
            <a:pPr marL="0" indent="0" algn="just">
              <a:lnSpc>
                <a:spcPts val="1830"/>
              </a:lnSpc>
              <a:buNone/>
            </a:pPr>
            <a:endParaRPr lang="en-US" altLang="zh-CN">
              <a:ea typeface="DengXia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7712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DA97A-DE33-CE14-E780-B3DC01B2D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Figma Make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D0FB33-4037-EAAD-38F3-DFD922E8A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30370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Arial"/>
                <a:ea typeface="宋体"/>
                <a:cs typeface="Arial"/>
              </a:rPr>
              <a:t>Please use this account to access Figma Make</a:t>
            </a:r>
          </a:p>
          <a:p>
            <a:pPr marL="344170" indent="-344170"/>
            <a:r>
              <a:rPr kumimoji="1" lang="en-US" altLang="zh-CN" dirty="0">
                <a:latin typeface="Arial"/>
                <a:ea typeface="宋体"/>
                <a:cs typeface="Arial"/>
              </a:rPr>
              <a:t>Website: </a:t>
            </a:r>
            <a:r>
              <a:rPr kumimoji="1" lang="en-US" altLang="zh-CN" dirty="0">
                <a:latin typeface="Arial"/>
                <a:ea typeface="宋体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https://www.figma.com/make/</a:t>
            </a:r>
            <a:r>
              <a:rPr kumimoji="1" lang="en-US" altLang="zh-CN" dirty="0">
                <a:latin typeface="Arial"/>
                <a:ea typeface="宋体"/>
                <a:cs typeface="Arial"/>
              </a:rPr>
              <a:t> </a:t>
            </a:r>
            <a:endParaRPr lang="en-US" dirty="0">
              <a:latin typeface="Arial"/>
              <a:ea typeface="宋体"/>
              <a:cs typeface="Arial"/>
            </a:endParaRPr>
          </a:p>
          <a:p>
            <a:pPr marL="344170" indent="-344170"/>
            <a:r>
              <a:rPr kumimoji="1" lang="en-US" altLang="zh-CN" dirty="0">
                <a:latin typeface="Arial"/>
                <a:ea typeface="宋体"/>
                <a:cs typeface="Arial"/>
              </a:rPr>
              <a:t>Account: </a:t>
            </a:r>
          </a:p>
          <a:p>
            <a:pPr marL="344170" indent="-344170"/>
            <a:r>
              <a:rPr kumimoji="1" lang="en-US" altLang="zh-CN" dirty="0">
                <a:latin typeface="Arial"/>
                <a:ea typeface="宋体"/>
                <a:cs typeface="Arial"/>
              </a:rPr>
              <a:t>Password:</a:t>
            </a:r>
            <a:endParaRPr lang="zh-CN" altLang="en-US" dirty="0">
              <a:latin typeface="Arial"/>
              <a:ea typeface="宋体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483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3985C-A71E-3E89-237E-9D5A0154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65DE6-CA8B-3DBC-5800-4CA3F8C1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/>
              <a:t>How  to use </a:t>
            </a:r>
            <a:r>
              <a:rPr kumimoji="1" lang="en-US" err="1"/>
              <a:t>figma</a:t>
            </a:r>
            <a:r>
              <a:rPr kumimoji="1" lang="en-US"/>
              <a:t> Make </a:t>
            </a:r>
            <a:endParaRPr kumimoji="1" lang="en-US">
              <a:solidFill>
                <a:srgbClr val="00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8BEB6C-31C8-238A-CC43-BAD3F19A7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 algn="just" fontAlgn="base">
              <a:lnSpc>
                <a:spcPts val="1831"/>
              </a:lnSpc>
              <a:buNone/>
            </a:pPr>
            <a:endParaRPr lang="en-US" altLang="zh-CN" b="0" i="0"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algn="just" rtl="0" fontAlgn="base">
              <a:lnSpc>
                <a:spcPts val="1831"/>
              </a:lnSpc>
              <a:buFont typeface="+mj-lt"/>
              <a:buAutoNum type="arabicPeriod" startAt="5"/>
            </a:pPr>
            <a:endParaRPr lang="en-US" altLang="zh-CN" b="0" i="0"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E770C7F8-7CF4-CFA5-FA82-697AE010A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229" y="1608666"/>
            <a:ext cx="8775725" cy="4956849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827F838-40BF-D4EA-CD56-AA23E1D64354}"/>
              </a:ext>
            </a:extLst>
          </p:cNvPr>
          <p:cNvCxnSpPr/>
          <p:nvPr/>
        </p:nvCxnSpPr>
        <p:spPr>
          <a:xfrm flipH="1" flipV="1">
            <a:off x="4088361" y="4677414"/>
            <a:ext cx="357141" cy="4947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060F63B-71D3-AE29-3499-52DF4A28A474}"/>
              </a:ext>
            </a:extLst>
          </p:cNvPr>
          <p:cNvSpPr txBox="1"/>
          <p:nvPr/>
        </p:nvSpPr>
        <p:spPr>
          <a:xfrm>
            <a:off x="3169076" y="5192441"/>
            <a:ext cx="29190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/>
              <a:t>Prompts are entered here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EED64C5-8CB6-7FEB-A4F0-472DACAE6FAC}"/>
              </a:ext>
            </a:extLst>
          </p:cNvPr>
          <p:cNvCxnSpPr>
            <a:cxnSpLocks/>
          </p:cNvCxnSpPr>
          <p:nvPr/>
        </p:nvCxnSpPr>
        <p:spPr>
          <a:xfrm flipH="1">
            <a:off x="8841072" y="4926394"/>
            <a:ext cx="43305" cy="8157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C340CE-735A-953A-A7A0-5999172C93F1}"/>
              </a:ext>
            </a:extLst>
          </p:cNvPr>
          <p:cNvSpPr txBox="1"/>
          <p:nvPr/>
        </p:nvSpPr>
        <p:spPr>
          <a:xfrm>
            <a:off x="7453142" y="4284667"/>
            <a:ext cx="28197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/>
              <a:t>Click and Figma Make will generate the UIs</a:t>
            </a:r>
          </a:p>
        </p:txBody>
      </p:sp>
    </p:spTree>
    <p:extLst>
      <p:ext uri="{BB962C8B-B14F-4D97-AF65-F5344CB8AC3E}">
        <p14:creationId xmlns:p14="http://schemas.microsoft.com/office/powerpoint/2010/main" val="2873065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D7E95-E1B8-7764-4592-085562A2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D065E-6C11-57CE-12D5-07D71B68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/>
              <a:t>UI Design Tasks </a:t>
            </a:r>
            <a:endParaRPr kumimoji="1" lang="en-US">
              <a:solidFill>
                <a:srgbClr val="00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9608AF-22DA-E86C-CD4C-B999AC650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 algn="just" fontAlgn="base">
              <a:lnSpc>
                <a:spcPts val="1831"/>
              </a:lnSpc>
              <a:buNone/>
            </a:pPr>
            <a:endParaRPr lang="en-US" altLang="zh-CN" b="0" i="0" dirty="0"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algn="just" rtl="0" fontAlgn="base">
              <a:lnSpc>
                <a:spcPts val="1831"/>
              </a:lnSpc>
              <a:buFont typeface="+mj-lt"/>
              <a:buAutoNum type="arabicPeriod" startAt="5"/>
            </a:pPr>
            <a:endParaRPr lang="en-US" altLang="zh-CN" b="0" i="0" dirty="0"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AED504-BCE4-D5B7-5892-1BEE32B8B86D}"/>
              </a:ext>
            </a:extLst>
          </p:cNvPr>
          <p:cNvSpPr txBox="1"/>
          <p:nvPr/>
        </p:nvSpPr>
        <p:spPr>
          <a:xfrm>
            <a:off x="800100" y="1796902"/>
            <a:ext cx="320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Randomly select 2 design tasks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6111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ABEEA-4F85-6EFC-6608-F7987B675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/>
              <a:t>Design Tasks</a:t>
            </a:r>
            <a:endParaRPr kumimoji="1" lang="en-US">
              <a:solidFill>
                <a:srgbClr val="000000"/>
              </a:solidFill>
            </a:endParaRPr>
          </a:p>
          <a:p>
            <a:endParaRPr lang="en-US" altLang="zh-CN">
              <a:ea typeface="宋体"/>
              <a:cs typeface="Arial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53530B-5073-A9BA-63E5-427062990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>
              <a:lnSpc>
                <a:spcPts val="1830"/>
              </a:lnSpc>
              <a:buAutoNum type="arabicPeriod"/>
            </a:pPr>
            <a:r>
              <a:rPr lang="en-US" dirty="0">
                <a:latin typeface="Arial"/>
                <a:cs typeface="Arial"/>
              </a:rPr>
              <a:t>Please design a cookie consent banner for a website. When users first visit this website, the banner will ask whether they agree to the storage and use of cookies.</a:t>
            </a:r>
            <a:endParaRPr lang="zh-CN" altLang="en-US" dirty="0">
              <a:latin typeface="Arial"/>
              <a:cs typeface="Arial"/>
            </a:endParaRPr>
          </a:p>
          <a:p>
            <a:pPr marL="457200" indent="-457200" algn="just">
              <a:lnSpc>
                <a:spcPts val="1830"/>
              </a:lnSpc>
              <a:buAutoNum type="arabicPeriod"/>
            </a:pPr>
            <a:r>
              <a:rPr lang="en-US" dirty="0">
                <a:latin typeface="Arial"/>
                <a:cs typeface="Arial"/>
              </a:rPr>
              <a:t>Please design an ads personalization settings interface for a website (or app) that allows users to adjust whether their personal data could be used for personalized advertising or not.</a:t>
            </a:r>
            <a:endParaRPr lang="zh-CN" altLang="en-US" dirty="0">
              <a:latin typeface="Arial"/>
              <a:cs typeface="Arial"/>
            </a:endParaRPr>
          </a:p>
          <a:p>
            <a:pPr marL="457200" indent="-457200" algn="just">
              <a:lnSpc>
                <a:spcPts val="1830"/>
              </a:lnSpc>
              <a:buAutoNum type="arabicPeriod"/>
            </a:pPr>
            <a:r>
              <a:rPr lang="en-US" dirty="0">
                <a:latin typeface="Arial"/>
                <a:cs typeface="Arial"/>
              </a:rPr>
              <a:t>Please design an account deletion function for a website (or app). When users choose this function, the flow will allow them to permanently remove their account and all associated personal information from the service.</a:t>
            </a:r>
            <a:endParaRPr lang="zh-CN" altLang="en-US" dirty="0">
              <a:latin typeface="Arial"/>
              <a:cs typeface="Arial"/>
            </a:endParaRPr>
          </a:p>
          <a:p>
            <a:pPr marL="457200" indent="-457200" algn="just">
              <a:lnSpc>
                <a:spcPts val="1830"/>
              </a:lnSpc>
              <a:buAutoNum type="arabicPeriod"/>
            </a:pPr>
            <a:r>
              <a:rPr lang="en-US" dirty="0">
                <a:latin typeface="Arial"/>
                <a:cs typeface="Arial"/>
              </a:rPr>
              <a:t>Please design a sign-up with email subscription option for a website (or app). When users first register, they should be able to create an account while opting in/out to receive marketing and promotional emails (such as newsletters and discount offers).</a:t>
            </a:r>
            <a:endParaRPr lang="zh-CN" altLang="en-US" dirty="0">
              <a:latin typeface="Arial"/>
              <a:cs typeface="Arial"/>
            </a:endParaRPr>
          </a:p>
          <a:p>
            <a:pPr algn="just">
              <a:lnSpc>
                <a:spcPts val="1830"/>
              </a:lnSpc>
              <a:buAutoNum type="arabicPeriod"/>
            </a:pPr>
            <a:endParaRPr lang="en-US" dirty="0">
              <a:latin typeface="Arial"/>
              <a:cs typeface="Arial"/>
            </a:endParaRPr>
          </a:p>
          <a:p>
            <a:pPr marL="0" indent="0" algn="just">
              <a:lnSpc>
                <a:spcPts val="1830"/>
              </a:lnSpc>
              <a:buNone/>
            </a:pP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8273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5CC90-70E3-5771-3A62-59EE97D9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56C10-282D-4D5F-B325-DCE199A57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kumimoji="1" lang="en-US"/>
              <a:t>Design Tasks</a:t>
            </a:r>
            <a:endParaRPr kumimoji="1" lang="en-US">
              <a:solidFill>
                <a:srgbClr val="000000"/>
              </a:solidFill>
            </a:endParaRPr>
          </a:p>
          <a:p>
            <a:endParaRPr lang="en-US" altLang="zh-CN">
              <a:ea typeface="宋体"/>
              <a:cs typeface="Arial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31DAE3-0FF3-B0EE-B409-03ACF8E0E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lnSpc>
                <a:spcPts val="1830"/>
              </a:lnSpc>
              <a:buNone/>
            </a:pPr>
            <a:r>
              <a:rPr lang="en-US" dirty="0">
                <a:latin typeface="Arial"/>
                <a:ea typeface="+mn-lt"/>
                <a:cs typeface="+mn-lt"/>
              </a:rPr>
              <a:t>5. Please design an unsubscribe page for a website that allows users to opt in/out of receiving newsletters or marketing emails.</a:t>
            </a:r>
            <a:endParaRPr lang="en-US" dirty="0">
              <a:latin typeface="Calisto MT" panose="02040603050505030304"/>
              <a:ea typeface="+mn-lt"/>
              <a:cs typeface="+mn-lt"/>
            </a:endParaRPr>
          </a:p>
          <a:p>
            <a:pPr marL="0" indent="0" algn="just">
              <a:lnSpc>
                <a:spcPts val="1830"/>
              </a:lnSpc>
              <a:buNone/>
            </a:pPr>
            <a:r>
              <a:rPr lang="en-US" dirty="0">
                <a:latin typeface="Arial"/>
                <a:ea typeface="+mn-lt"/>
                <a:cs typeface="+mn-lt"/>
              </a:rPr>
              <a:t>6. Please design a privacy policy consent interface for a website (or app). When users first access the website (or app), the interface will require them to read and agree to its privacy policy before continuing to use it.</a:t>
            </a:r>
            <a:endParaRPr lang="en-US" dirty="0">
              <a:latin typeface="Calisto MT" panose="02040603050505030304"/>
              <a:ea typeface="+mn-lt"/>
              <a:cs typeface="+mn-lt"/>
            </a:endParaRPr>
          </a:p>
          <a:p>
            <a:pPr marL="0" indent="0" algn="just">
              <a:lnSpc>
                <a:spcPts val="1830"/>
              </a:lnSpc>
              <a:buNone/>
            </a:pPr>
            <a:r>
              <a:rPr lang="en-US" dirty="0">
                <a:latin typeface="Arial"/>
                <a:ea typeface="+mn-lt"/>
                <a:cs typeface="+mn-lt"/>
              </a:rPr>
              <a:t>7. Please design a user data access request function for a website (or app). When users initiate this function, it will let them request and receive a copy of the personal data the website (or app) has collected about them.</a:t>
            </a:r>
            <a:endParaRPr lang="en-US" dirty="0">
              <a:latin typeface="Arial"/>
              <a:ea typeface="+mn-lt"/>
              <a:cs typeface="Arial"/>
            </a:endParaRPr>
          </a:p>
          <a:p>
            <a:pPr marL="0" indent="0" algn="just">
              <a:lnSpc>
                <a:spcPts val="1830"/>
              </a:lnSpc>
              <a:buNone/>
            </a:pPr>
            <a:r>
              <a:rPr lang="en-US" dirty="0">
                <a:latin typeface="Arial"/>
                <a:ea typeface="+mn-lt"/>
                <a:cs typeface="+mn-lt"/>
              </a:rPr>
              <a:t>8. Please design a permission redirect UI for an app. The interface will guide users to the system settings for them to grant system permissions such as location and notification. </a:t>
            </a:r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8237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3ACE10-4907-2C30-0EFA-B9ADC16C6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Dark Pattern</a:t>
            </a:r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F86F04-A3A5-9610-90A1-1589203E1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719372"/>
            <a:ext cx="7796540" cy="28513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b="0" i="0" dirty="0">
                <a:effectLst/>
                <a:latin typeface="Arial"/>
                <a:cs typeface="Arial"/>
              </a:rPr>
              <a:t>Dark patterns are used in websites and apps that make you do things that you didn't </a:t>
            </a:r>
            <a:r>
              <a:rPr lang="en-US" altLang="zh-CN" dirty="0">
                <a:latin typeface="Arial"/>
                <a:cs typeface="Arial"/>
              </a:rPr>
              <a:t>intend </a:t>
            </a:r>
            <a:r>
              <a:rPr lang="en-US" altLang="zh-CN" b="0" i="0" dirty="0">
                <a:effectLst/>
                <a:latin typeface="Arial"/>
                <a:cs typeface="Arial"/>
              </a:rPr>
              <a:t>to, like buying or signing up for something.</a:t>
            </a:r>
            <a:endParaRPr lang="zh-CN" altLang="en-US" dirty="0">
              <a:latin typeface="Arial"/>
              <a:cs typeface="Arial"/>
            </a:endParaRPr>
          </a:p>
        </p:txBody>
      </p:sp>
      <p:pic>
        <p:nvPicPr>
          <p:cNvPr id="5" name="图片 4" descr="图形用户界面, 文本, 应用程序, 聊天或短信&#10;&#10;AI 生成的内容可能不正确。">
            <a:extLst>
              <a:ext uri="{FF2B5EF4-FFF2-40B4-BE49-F238E27FC236}">
                <a16:creationId xmlns:a16="http://schemas.microsoft.com/office/drawing/2014/main" id="{E2321B04-3270-61A8-FED1-81200E20C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187" y="2842973"/>
            <a:ext cx="5527828" cy="387474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0144BBA-85D5-9842-BF60-E518496D3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060" y="3577265"/>
            <a:ext cx="3175000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236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DB18B5-98C2-1AAF-6076-7696015F0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>
                <a:ea typeface="+mn-lt"/>
                <a:cs typeface="+mn-lt"/>
              </a:rPr>
              <a:t>Thank you very much for your participation. We have a few additional UI design tasks for which we’d like to collect your feedback. Could you please review these tasks after the study and share your prompts through the following survey? </a:t>
            </a:r>
            <a:r>
              <a:rPr lang="zh-CN" dirty="0">
                <a:ea typeface="+mn-lt"/>
                <a:cs typeface="+mn-lt"/>
              </a:rPr>
              <a:t>There’s no need for a Zoom meeting</a:t>
            </a:r>
            <a:r>
              <a:rPr lang="zh-CN" altLang="en-US" dirty="0">
                <a:ea typeface="+mn-lt"/>
                <a:cs typeface="+mn-lt"/>
              </a:rPr>
              <a:t> </a:t>
            </a:r>
            <a:r>
              <a:rPr lang="en-US" altLang="zh-CN" dirty="0">
                <a:ea typeface="+mn-lt"/>
                <a:cs typeface="+mn-lt"/>
              </a:rPr>
              <a:t>- </a:t>
            </a:r>
            <a:r>
              <a:rPr lang="zh-CN" dirty="0">
                <a:ea typeface="+mn-lt"/>
                <a:cs typeface="+mn-lt"/>
              </a:rPr>
              <a:t>you only need to </a:t>
            </a:r>
            <a:r>
              <a:rPr lang="en-US" altLang="zh-CN" dirty="0">
                <a:ea typeface="+mn-lt"/>
                <a:cs typeface="+mn-lt"/>
              </a:rPr>
              <a:t>fil</a:t>
            </a:r>
            <a:r>
              <a:rPr lang="zh-CN" dirty="0">
                <a:ea typeface="+mn-lt"/>
                <a:cs typeface="+mn-lt"/>
              </a:rPr>
              <a:t>l </a:t>
            </a:r>
            <a:r>
              <a:rPr lang="en-US" altLang="zh-CN" dirty="0">
                <a:ea typeface="+mn-lt"/>
                <a:cs typeface="+mn-lt"/>
              </a:rPr>
              <a:t>in your</a:t>
            </a:r>
            <a:r>
              <a:rPr lang="zh-CN" dirty="0">
                <a:ea typeface="+mn-lt"/>
                <a:cs typeface="+mn-lt"/>
              </a:rPr>
              <a:t> prompts in the survey.</a:t>
            </a:r>
            <a:endParaRPr lang="zh-CN" dirty="0"/>
          </a:p>
          <a:p>
            <a:r>
              <a:rPr lang="en-US" altLang="zh-CN" dirty="0">
                <a:ea typeface="+mn-lt"/>
                <a:cs typeface="+mn-lt"/>
              </a:rPr>
              <a:t>link</a:t>
            </a:r>
            <a:endParaRPr lang="zh-CN" altLang="en-US" dirty="0">
              <a:ea typeface="+mn-lt"/>
              <a:cs typeface="+mn-lt"/>
            </a:endParaRPr>
          </a:p>
          <a:p>
            <a:endParaRPr lang="zh-CN" dirty="0">
              <a:ea typeface="+mn-lt"/>
              <a:cs typeface="+mn-lt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64E368-E59C-6685-8959-3EB821DD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20CCD-2D4C-4D8B-BD3B-F23422670A06}" type="datetime1">
              <a:rPr/>
              <a:t>2026/2/17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5AFA7-7018-3083-0AD3-0F6DE2F08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E1FEFD-CF6E-094D-B9B8-8211E5D9B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62239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{6D6B6DDB-B18F-9C49-97BE-273E133EA954}tf16401378</Template>
  <TotalTime>0</TotalTime>
  <Words>642</Words>
  <Application>Microsoft Macintosh PowerPoint</Application>
  <PresentationFormat>宽屏</PresentationFormat>
  <Paragraphs>57</Paragraphs>
  <Slides>11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</vt:lpstr>
      <vt:lpstr>宋体</vt:lpstr>
      <vt:lpstr>Arial</vt:lpstr>
      <vt:lpstr>Calisto MT</vt:lpstr>
      <vt:lpstr>Univers Condensed</vt:lpstr>
      <vt:lpstr>ChronicleVTI</vt:lpstr>
      <vt:lpstr>PowerPoint 演示文稿</vt:lpstr>
      <vt:lpstr>PowerPoint 演示文稿</vt:lpstr>
      <vt:lpstr>UI Design Background</vt:lpstr>
      <vt:lpstr>Design Tasks </vt:lpstr>
      <vt:lpstr>Figma Make</vt:lpstr>
      <vt:lpstr>How  to use figma Make </vt:lpstr>
      <vt:lpstr>UI Design Tasks </vt:lpstr>
      <vt:lpstr>Design Tasks </vt:lpstr>
      <vt:lpstr>Design Tasks </vt:lpstr>
      <vt:lpstr>Dark Pattern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竞舟 叶</dc:creator>
  <cp:lastModifiedBy>Jingzhou Ye</cp:lastModifiedBy>
  <cp:revision>41</cp:revision>
  <dcterms:created xsi:type="dcterms:W3CDTF">2024-07-28T04:25:24Z</dcterms:created>
  <dcterms:modified xsi:type="dcterms:W3CDTF">2026-02-17T21:08:40Z</dcterms:modified>
</cp:coreProperties>
</file>